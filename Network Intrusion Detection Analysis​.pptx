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8" r:id="rId7"/>
    <p:sldId id="267" r:id="rId8"/>
    <p:sldId id="258" r:id="rId9"/>
    <p:sldId id="259" r:id="rId10"/>
    <p:sldId id="260" r:id="rId11"/>
    <p:sldId id="261" r:id="rId12"/>
    <p:sldId id="262" r:id="rId13"/>
    <p:sldId id="263" r:id="rId14"/>
    <p:sldId id="264" r:id="rId15"/>
    <p:sldId id="265" r:id="rId16"/>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BA9F2D-3C5F-4BEE-A557-3EFA7BA811B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ABB33A4-E7AB-45C5-95DB-B4D0EEA708F8}">
      <dgm:prSet/>
      <dgm:spPr/>
      <dgm:t>
        <a:bodyPr/>
        <a:lstStyle/>
        <a:p>
          <a:r>
            <a:rPr lang="en-US"/>
            <a:t>Network intrusion detection systems (IDS) are designed to monitor network traffic and identify suspicious activities or policy violations. These systems analyze network connections and detect patterns that may indicate cyber attacks such as unauthorized access, denial of service, or exploitation attempts.</a:t>
          </a:r>
        </a:p>
      </dgm:t>
    </dgm:pt>
    <dgm:pt modelId="{DB57663E-A146-47B4-B157-974610656733}" type="parTrans" cxnId="{C48CF8BF-7BE3-41A5-8501-4E2B0D6D3E6C}">
      <dgm:prSet/>
      <dgm:spPr/>
      <dgm:t>
        <a:bodyPr/>
        <a:lstStyle/>
        <a:p>
          <a:endParaRPr lang="en-US"/>
        </a:p>
      </dgm:t>
    </dgm:pt>
    <dgm:pt modelId="{6BE8153F-323E-45BE-8934-5B11F65D32F4}" type="sibTrans" cxnId="{C48CF8BF-7BE3-41A5-8501-4E2B0D6D3E6C}">
      <dgm:prSet/>
      <dgm:spPr/>
      <dgm:t>
        <a:bodyPr/>
        <a:lstStyle/>
        <a:p>
          <a:endParaRPr lang="en-US"/>
        </a:p>
      </dgm:t>
    </dgm:pt>
    <dgm:pt modelId="{9EE5073E-CD1B-4E85-AF98-F0515516BF78}">
      <dgm:prSet/>
      <dgm:spPr/>
      <dgm:t>
        <a:bodyPr/>
        <a:lstStyle/>
        <a:p>
          <a:r>
            <a:rPr lang="en-US"/>
            <a:t>Modern organizations rely heavily on intrusion detection systems to protect their networks from increasingly sophisticated cyber threats.</a:t>
          </a:r>
        </a:p>
      </dgm:t>
    </dgm:pt>
    <dgm:pt modelId="{1B61CFEB-A42E-452B-8916-FFC0B75CE6F9}" type="parTrans" cxnId="{6B0DED70-9C4C-4141-901C-C7B35E740FEA}">
      <dgm:prSet/>
      <dgm:spPr/>
      <dgm:t>
        <a:bodyPr/>
        <a:lstStyle/>
        <a:p>
          <a:endParaRPr lang="en-US"/>
        </a:p>
      </dgm:t>
    </dgm:pt>
    <dgm:pt modelId="{237E0642-1E52-4476-BDBD-EEA25931D0EF}" type="sibTrans" cxnId="{6B0DED70-9C4C-4141-901C-C7B35E740FEA}">
      <dgm:prSet/>
      <dgm:spPr/>
      <dgm:t>
        <a:bodyPr/>
        <a:lstStyle/>
        <a:p>
          <a:endParaRPr lang="en-US"/>
        </a:p>
      </dgm:t>
    </dgm:pt>
    <dgm:pt modelId="{2C093394-B049-403C-8AA3-B7E35243F41A}" type="pres">
      <dgm:prSet presAssocID="{91BA9F2D-3C5F-4BEE-A557-3EFA7BA811BA}" presName="root" presStyleCnt="0">
        <dgm:presLayoutVars>
          <dgm:dir/>
          <dgm:resizeHandles val="exact"/>
        </dgm:presLayoutVars>
      </dgm:prSet>
      <dgm:spPr/>
    </dgm:pt>
    <dgm:pt modelId="{53BCAC4B-EAA2-4708-A6C4-DCE9A60FEC4A}" type="pres">
      <dgm:prSet presAssocID="{2ABB33A4-E7AB-45C5-95DB-B4D0EEA708F8}" presName="compNode" presStyleCnt="0"/>
      <dgm:spPr/>
    </dgm:pt>
    <dgm:pt modelId="{9B9CEF74-97E7-46D2-AADB-568D6B4815A2}" type="pres">
      <dgm:prSet presAssocID="{2ABB33A4-E7AB-45C5-95DB-B4D0EEA708F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5906158A-A4CD-44AA-89A3-BDB9AF1AD2C7}" type="pres">
      <dgm:prSet presAssocID="{2ABB33A4-E7AB-45C5-95DB-B4D0EEA708F8}" presName="spaceRect" presStyleCnt="0"/>
      <dgm:spPr/>
    </dgm:pt>
    <dgm:pt modelId="{EB0B6961-EBCD-40B4-A156-CBEDCD184078}" type="pres">
      <dgm:prSet presAssocID="{2ABB33A4-E7AB-45C5-95DB-B4D0EEA708F8}" presName="textRect" presStyleLbl="revTx" presStyleIdx="0" presStyleCnt="2">
        <dgm:presLayoutVars>
          <dgm:chMax val="1"/>
          <dgm:chPref val="1"/>
        </dgm:presLayoutVars>
      </dgm:prSet>
      <dgm:spPr/>
    </dgm:pt>
    <dgm:pt modelId="{9A4495B7-839D-4C8E-A8C1-3FB8473301BB}" type="pres">
      <dgm:prSet presAssocID="{6BE8153F-323E-45BE-8934-5B11F65D32F4}" presName="sibTrans" presStyleCnt="0"/>
      <dgm:spPr/>
    </dgm:pt>
    <dgm:pt modelId="{EB2417B3-06FE-496A-B73D-00C36684CAEE}" type="pres">
      <dgm:prSet presAssocID="{9EE5073E-CD1B-4E85-AF98-F0515516BF78}" presName="compNode" presStyleCnt="0"/>
      <dgm:spPr/>
    </dgm:pt>
    <dgm:pt modelId="{B780E78A-5B37-48ED-9F6A-A4F09DF7D3E5}" type="pres">
      <dgm:prSet presAssocID="{9EE5073E-CD1B-4E85-AF98-F0515516BF7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D7B35A62-6104-4603-8F1E-61F90310E86C}" type="pres">
      <dgm:prSet presAssocID="{9EE5073E-CD1B-4E85-AF98-F0515516BF78}" presName="spaceRect" presStyleCnt="0"/>
      <dgm:spPr/>
    </dgm:pt>
    <dgm:pt modelId="{630588C7-7106-4145-8E52-EF6E6324A6EE}" type="pres">
      <dgm:prSet presAssocID="{9EE5073E-CD1B-4E85-AF98-F0515516BF78}" presName="textRect" presStyleLbl="revTx" presStyleIdx="1" presStyleCnt="2">
        <dgm:presLayoutVars>
          <dgm:chMax val="1"/>
          <dgm:chPref val="1"/>
        </dgm:presLayoutVars>
      </dgm:prSet>
      <dgm:spPr/>
    </dgm:pt>
  </dgm:ptLst>
  <dgm:cxnLst>
    <dgm:cxn modelId="{05F34D19-AD5E-40DD-AA87-A8A345D57F4A}" type="presOf" srcId="{9EE5073E-CD1B-4E85-AF98-F0515516BF78}" destId="{630588C7-7106-4145-8E52-EF6E6324A6EE}" srcOrd="0" destOrd="0" presId="urn:microsoft.com/office/officeart/2018/2/layout/IconLabelList"/>
    <dgm:cxn modelId="{A553915F-0410-4B23-B8B9-1E0CBFAF80A3}" type="presOf" srcId="{91BA9F2D-3C5F-4BEE-A557-3EFA7BA811BA}" destId="{2C093394-B049-403C-8AA3-B7E35243F41A}" srcOrd="0" destOrd="0" presId="urn:microsoft.com/office/officeart/2018/2/layout/IconLabelList"/>
    <dgm:cxn modelId="{6B0DED70-9C4C-4141-901C-C7B35E740FEA}" srcId="{91BA9F2D-3C5F-4BEE-A557-3EFA7BA811BA}" destId="{9EE5073E-CD1B-4E85-AF98-F0515516BF78}" srcOrd="1" destOrd="0" parTransId="{1B61CFEB-A42E-452B-8916-FFC0B75CE6F9}" sibTransId="{237E0642-1E52-4476-BDBD-EEA25931D0EF}"/>
    <dgm:cxn modelId="{C48CF8BF-7BE3-41A5-8501-4E2B0D6D3E6C}" srcId="{91BA9F2D-3C5F-4BEE-A557-3EFA7BA811BA}" destId="{2ABB33A4-E7AB-45C5-95DB-B4D0EEA708F8}" srcOrd="0" destOrd="0" parTransId="{DB57663E-A146-47B4-B157-974610656733}" sibTransId="{6BE8153F-323E-45BE-8934-5B11F65D32F4}"/>
    <dgm:cxn modelId="{417E7CC1-8FEC-40B3-B940-08E9AAB44B03}" type="presOf" srcId="{2ABB33A4-E7AB-45C5-95DB-B4D0EEA708F8}" destId="{EB0B6961-EBCD-40B4-A156-CBEDCD184078}" srcOrd="0" destOrd="0" presId="urn:microsoft.com/office/officeart/2018/2/layout/IconLabelList"/>
    <dgm:cxn modelId="{CB3AADE1-C9AB-4C1D-83CF-B188B1A30AB4}" type="presParOf" srcId="{2C093394-B049-403C-8AA3-B7E35243F41A}" destId="{53BCAC4B-EAA2-4708-A6C4-DCE9A60FEC4A}" srcOrd="0" destOrd="0" presId="urn:microsoft.com/office/officeart/2018/2/layout/IconLabelList"/>
    <dgm:cxn modelId="{F16F1237-505C-4BF0-89C6-7E414192A3E5}" type="presParOf" srcId="{53BCAC4B-EAA2-4708-A6C4-DCE9A60FEC4A}" destId="{9B9CEF74-97E7-46D2-AADB-568D6B4815A2}" srcOrd="0" destOrd="0" presId="urn:microsoft.com/office/officeart/2018/2/layout/IconLabelList"/>
    <dgm:cxn modelId="{D76AAB47-8497-43F4-A979-20AD361AE68C}" type="presParOf" srcId="{53BCAC4B-EAA2-4708-A6C4-DCE9A60FEC4A}" destId="{5906158A-A4CD-44AA-89A3-BDB9AF1AD2C7}" srcOrd="1" destOrd="0" presId="urn:microsoft.com/office/officeart/2018/2/layout/IconLabelList"/>
    <dgm:cxn modelId="{B10FF58C-F5E2-4352-AD2F-6E0566746664}" type="presParOf" srcId="{53BCAC4B-EAA2-4708-A6C4-DCE9A60FEC4A}" destId="{EB0B6961-EBCD-40B4-A156-CBEDCD184078}" srcOrd="2" destOrd="0" presId="urn:microsoft.com/office/officeart/2018/2/layout/IconLabelList"/>
    <dgm:cxn modelId="{3C5D11E3-48A9-4885-85B4-155C5AC659AA}" type="presParOf" srcId="{2C093394-B049-403C-8AA3-B7E35243F41A}" destId="{9A4495B7-839D-4C8E-A8C1-3FB8473301BB}" srcOrd="1" destOrd="0" presId="urn:microsoft.com/office/officeart/2018/2/layout/IconLabelList"/>
    <dgm:cxn modelId="{08AADE9B-A671-4142-88CF-CA65F63C2684}" type="presParOf" srcId="{2C093394-B049-403C-8AA3-B7E35243F41A}" destId="{EB2417B3-06FE-496A-B73D-00C36684CAEE}" srcOrd="2" destOrd="0" presId="urn:microsoft.com/office/officeart/2018/2/layout/IconLabelList"/>
    <dgm:cxn modelId="{B54AEF30-9ADC-46D3-BC04-FFA7C4B2B21D}" type="presParOf" srcId="{EB2417B3-06FE-496A-B73D-00C36684CAEE}" destId="{B780E78A-5B37-48ED-9F6A-A4F09DF7D3E5}" srcOrd="0" destOrd="0" presId="urn:microsoft.com/office/officeart/2018/2/layout/IconLabelList"/>
    <dgm:cxn modelId="{8BE89591-7D3B-4801-90DD-81DCC965616D}" type="presParOf" srcId="{EB2417B3-06FE-496A-B73D-00C36684CAEE}" destId="{D7B35A62-6104-4603-8F1E-61F90310E86C}" srcOrd="1" destOrd="0" presId="urn:microsoft.com/office/officeart/2018/2/layout/IconLabelList"/>
    <dgm:cxn modelId="{AB8CC1FE-1F9B-48AD-B6A0-C728F2C497DC}" type="presParOf" srcId="{EB2417B3-06FE-496A-B73D-00C36684CAEE}" destId="{630588C7-7106-4145-8E52-EF6E6324A6E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CEF74-97E7-46D2-AADB-568D6B4815A2}">
      <dsp:nvSpPr>
        <dsp:cNvPr id="0" name=""/>
        <dsp:cNvSpPr/>
      </dsp:nvSpPr>
      <dsp:spPr>
        <a:xfrm>
          <a:off x="1835905" y="289705"/>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0B6961-EBCD-40B4-A156-CBEDCD184078}">
      <dsp:nvSpPr>
        <dsp:cNvPr id="0" name=""/>
        <dsp:cNvSpPr/>
      </dsp:nvSpPr>
      <dsp:spPr>
        <a:xfrm>
          <a:off x="647905" y="2707944"/>
          <a:ext cx="432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Network intrusion detection systems (IDS) are designed to monitor network traffic and identify suspicious activities or policy violations. These systems analyze network connections and detect patterns that may indicate cyber attacks such as unauthorized access, denial of service, or exploitation attempts.</a:t>
          </a:r>
        </a:p>
      </dsp:txBody>
      <dsp:txXfrm>
        <a:off x="647905" y="2707944"/>
        <a:ext cx="4320000" cy="742500"/>
      </dsp:txXfrm>
    </dsp:sp>
    <dsp:sp modelId="{B780E78A-5B37-48ED-9F6A-A4F09DF7D3E5}">
      <dsp:nvSpPr>
        <dsp:cNvPr id="0" name=""/>
        <dsp:cNvSpPr/>
      </dsp:nvSpPr>
      <dsp:spPr>
        <a:xfrm>
          <a:off x="6911906" y="289705"/>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0588C7-7106-4145-8E52-EF6E6324A6EE}">
      <dsp:nvSpPr>
        <dsp:cNvPr id="0" name=""/>
        <dsp:cNvSpPr/>
      </dsp:nvSpPr>
      <dsp:spPr>
        <a:xfrm>
          <a:off x="5723905" y="2707944"/>
          <a:ext cx="4320000"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Modern organizations rely heavily on intrusion detection systems to protect their networks from increasingly sophisticated cyber threats.</a:t>
          </a:r>
        </a:p>
      </dsp:txBody>
      <dsp:txXfrm>
        <a:off x="5723905" y="2707944"/>
        <a:ext cx="4320000" cy="7425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3/10/2026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42942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3/10/2026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292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3/10/2026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50560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3/10/2026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28310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3/10/2026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87532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3/10/2026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82524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3/10/2026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08902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3/10/2026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37920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3/10/2026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05763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3/10/2026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6397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3/10/2026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71015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3/10/2026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384855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Wires Linked To Core Router">
            <a:extLst>
              <a:ext uri="{FF2B5EF4-FFF2-40B4-BE49-F238E27FC236}">
                <a16:creationId xmlns:a16="http://schemas.microsoft.com/office/drawing/2014/main" id="{B2CF2F08-7F3A-8780-9947-4575FDAE8EB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101" r="-1" b="182"/>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1CA6CE7-A74B-05FE-7396-4A84F90E5212}"/>
              </a:ext>
            </a:extLst>
          </p:cNvPr>
          <p:cNvSpPr>
            <a:spLocks noGrp="1"/>
          </p:cNvSpPr>
          <p:nvPr>
            <p:ph type="ctrTitle"/>
          </p:nvPr>
        </p:nvSpPr>
        <p:spPr>
          <a:xfrm>
            <a:off x="704088" y="2244909"/>
            <a:ext cx="4693473" cy="3954040"/>
          </a:xfrm>
        </p:spPr>
        <p:txBody>
          <a:bodyPr anchor="b">
            <a:normAutofit/>
          </a:bodyPr>
          <a:lstStyle/>
          <a:p>
            <a:r>
              <a:rPr lang="en-US">
                <a:solidFill>
                  <a:srgbClr val="FFFFFF"/>
                </a:solidFill>
              </a:rPr>
              <a:t>Network Intrusion Detection Analysis</a:t>
            </a:r>
            <a:endParaRPr lang="el-GR">
              <a:solidFill>
                <a:srgbClr val="FFFFFF"/>
              </a:solidFill>
            </a:endParaRPr>
          </a:p>
        </p:txBody>
      </p:sp>
      <p:sp>
        <p:nvSpPr>
          <p:cNvPr id="3" name="Subtitle 2">
            <a:extLst>
              <a:ext uri="{FF2B5EF4-FFF2-40B4-BE49-F238E27FC236}">
                <a16:creationId xmlns:a16="http://schemas.microsoft.com/office/drawing/2014/main" id="{D3F6D926-FCA7-48D0-2FC1-BC64141CBF28}"/>
              </a:ext>
            </a:extLst>
          </p:cNvPr>
          <p:cNvSpPr>
            <a:spLocks noGrp="1"/>
          </p:cNvSpPr>
          <p:nvPr>
            <p:ph type="subTitle" idx="1"/>
          </p:nvPr>
        </p:nvSpPr>
        <p:spPr>
          <a:xfrm>
            <a:off x="704088" y="659052"/>
            <a:ext cx="5819775" cy="670945"/>
          </a:xfrm>
        </p:spPr>
        <p:txBody>
          <a:bodyPr anchor="t">
            <a:normAutofit/>
          </a:bodyPr>
          <a:lstStyle/>
          <a:p>
            <a:pPr>
              <a:lnSpc>
                <a:spcPct val="100000"/>
              </a:lnSpc>
            </a:pPr>
            <a:r>
              <a:rPr lang="en-US" sz="1100">
                <a:solidFill>
                  <a:srgbClr val="FFFFFF"/>
                </a:solidFill>
              </a:rPr>
              <a:t>This project analyzes network traffic data in order to identify patterns that may indicate malicious activity. Using data visualization techniques, we explore how different network features behave and how they can help distinguish normal connections from potential attacks.</a:t>
            </a:r>
            <a:endParaRPr lang="el-GR" sz="1100">
              <a:solidFill>
                <a:srgbClr val="FFFFFF"/>
              </a:solidFill>
            </a:endParaRPr>
          </a:p>
        </p:txBody>
      </p:sp>
      <p:cxnSp>
        <p:nvCxnSpPr>
          <p:cNvPr id="13" name="Straight Connector 1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14478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4172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7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5F3025-C0F4-9A1A-D9F6-F28A77FF7F83}"/>
              </a:ext>
            </a:extLst>
          </p:cNvPr>
          <p:cNvSpPr>
            <a:spLocks noGrp="1"/>
          </p:cNvSpPr>
          <p:nvPr>
            <p:ph type="title"/>
          </p:nvPr>
        </p:nvSpPr>
        <p:spPr>
          <a:xfrm>
            <a:off x="700087" y="909638"/>
            <a:ext cx="10691813" cy="1155618"/>
          </a:xfrm>
        </p:spPr>
        <p:txBody>
          <a:bodyPr>
            <a:normAutofit/>
          </a:bodyPr>
          <a:lstStyle/>
          <a:p>
            <a:r>
              <a:rPr lang="en-US" dirty="0"/>
              <a:t>Network Intrusion Detection</a:t>
            </a:r>
            <a:endParaRPr lang="el-GR" dirty="0"/>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905E493-F6BB-8476-4B3E-556E733E9395}"/>
              </a:ext>
            </a:extLst>
          </p:cNvPr>
          <p:cNvGraphicFramePr>
            <a:graphicFrameLocks noGrp="1"/>
          </p:cNvGraphicFramePr>
          <p:nvPr>
            <p:ph idx="1"/>
            <p:extLst>
              <p:ext uri="{D42A27DB-BD31-4B8C-83A1-F6EECF244321}">
                <p14:modId xmlns:p14="http://schemas.microsoft.com/office/powerpoint/2010/main" val="3980062203"/>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0716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C446E8-BA26-5F6F-B050-BC90852E0E33}"/>
              </a:ext>
            </a:extLst>
          </p:cNvPr>
          <p:cNvSpPr>
            <a:spLocks noGrp="1"/>
          </p:cNvSpPr>
          <p:nvPr>
            <p:ph type="ctrTitle"/>
          </p:nvPr>
        </p:nvSpPr>
        <p:spPr>
          <a:xfrm>
            <a:off x="703400" y="871758"/>
            <a:ext cx="5227171" cy="3871143"/>
          </a:xfrm>
        </p:spPr>
        <p:txBody>
          <a:bodyPr>
            <a:normAutofit/>
          </a:bodyPr>
          <a:lstStyle/>
          <a:p>
            <a:r>
              <a:rPr lang="en-US" dirty="0"/>
              <a:t>Objectives of the Analysis</a:t>
            </a:r>
            <a:endParaRPr lang="el-GR" dirty="0"/>
          </a:p>
        </p:txBody>
      </p:sp>
      <p:sp>
        <p:nvSpPr>
          <p:cNvPr id="3" name="Subtitle 2">
            <a:extLst>
              <a:ext uri="{FF2B5EF4-FFF2-40B4-BE49-F238E27FC236}">
                <a16:creationId xmlns:a16="http://schemas.microsoft.com/office/drawing/2014/main" id="{76734F19-3687-EC86-9654-876F1529EACA}"/>
              </a:ext>
            </a:extLst>
          </p:cNvPr>
          <p:cNvSpPr>
            <a:spLocks noGrp="1"/>
          </p:cNvSpPr>
          <p:nvPr>
            <p:ph type="subTitle" idx="1"/>
          </p:nvPr>
        </p:nvSpPr>
        <p:spPr>
          <a:xfrm>
            <a:off x="721688" y="4785543"/>
            <a:ext cx="4857857" cy="1005657"/>
          </a:xfrm>
        </p:spPr>
        <p:txBody>
          <a:bodyPr>
            <a:normAutofit/>
          </a:bodyPr>
          <a:lstStyle/>
          <a:p>
            <a:pPr>
              <a:lnSpc>
                <a:spcPct val="100000"/>
              </a:lnSpc>
            </a:pPr>
            <a:r>
              <a:rPr lang="en-US" sz="1300" dirty="0"/>
              <a:t>The objective of this project is to analyze network traffic patterns and identify characteristics that may help detect malicious activity. By visualizing important network features, we aim to better understand how attacks differ from normal traffic behavior.</a:t>
            </a:r>
            <a:endParaRPr lang="el-GR" sz="1300" dirty="0"/>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Pipette adding DNA sample to a petri dish">
            <a:extLst>
              <a:ext uri="{FF2B5EF4-FFF2-40B4-BE49-F238E27FC236}">
                <a16:creationId xmlns:a16="http://schemas.microsoft.com/office/drawing/2014/main" id="{51ADF346-E138-EF38-8004-BED180B4386A}"/>
              </a:ext>
            </a:extLst>
          </p:cNvPr>
          <p:cNvPicPr>
            <a:picLocks noChangeAspect="1"/>
          </p:cNvPicPr>
          <p:nvPr/>
        </p:nvPicPr>
        <p:blipFill>
          <a:blip r:embed="rId2"/>
          <a:srcRect l="7167" r="30750"/>
          <a:stretch>
            <a:fillRect/>
          </a:stretch>
        </p:blipFill>
        <p:spPr>
          <a:xfrm>
            <a:off x="6515100" y="10"/>
            <a:ext cx="5676900" cy="6857990"/>
          </a:xfrm>
          <a:prstGeom prst="rect">
            <a:avLst/>
          </a:prstGeom>
        </p:spPr>
      </p:pic>
    </p:spTree>
    <p:extLst>
      <p:ext uri="{BB962C8B-B14F-4D97-AF65-F5344CB8AC3E}">
        <p14:creationId xmlns:p14="http://schemas.microsoft.com/office/powerpoint/2010/main" val="178409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C16BF9-5BC4-E675-9252-01ACD0A210C3}"/>
              </a:ext>
            </a:extLst>
          </p:cNvPr>
          <p:cNvSpPr>
            <a:spLocks noGrp="1"/>
          </p:cNvSpPr>
          <p:nvPr>
            <p:ph type="title"/>
          </p:nvPr>
        </p:nvSpPr>
        <p:spPr>
          <a:xfrm>
            <a:off x="5248656" y="914400"/>
            <a:ext cx="6236208" cy="1307592"/>
          </a:xfrm>
        </p:spPr>
        <p:txBody>
          <a:bodyPr>
            <a:normAutofit/>
          </a:bodyPr>
          <a:lstStyle/>
          <a:p>
            <a:r>
              <a:rPr lang="en-US" dirty="0"/>
              <a:t>Dataset Description</a:t>
            </a:r>
            <a:endParaRPr lang="el-GR" dirty="0"/>
          </a:p>
        </p:txBody>
      </p:sp>
      <p:pic>
        <p:nvPicPr>
          <p:cNvPr id="5" name="Picture 4">
            <a:extLst>
              <a:ext uri="{FF2B5EF4-FFF2-40B4-BE49-F238E27FC236}">
                <a16:creationId xmlns:a16="http://schemas.microsoft.com/office/drawing/2014/main" id="{2804DF64-6922-8919-36F7-765E58C5CA69}"/>
              </a:ext>
            </a:extLst>
          </p:cNvPr>
          <p:cNvPicPr>
            <a:picLocks noChangeAspect="1"/>
          </p:cNvPicPr>
          <p:nvPr/>
        </p:nvPicPr>
        <p:blipFill>
          <a:blip r:embed="rId2"/>
          <a:srcRect l="14153" r="47597"/>
          <a:stretch>
            <a:fillRect/>
          </a:stretch>
        </p:blipFill>
        <p:spPr>
          <a:xfrm>
            <a:off x="20" y="-1"/>
            <a:ext cx="4663420" cy="6858001"/>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7668D2D-DAFF-3716-CFE7-6C89E6168574}"/>
              </a:ext>
            </a:extLst>
          </p:cNvPr>
          <p:cNvSpPr>
            <a:spLocks noGrp="1"/>
          </p:cNvSpPr>
          <p:nvPr>
            <p:ph idx="1"/>
          </p:nvPr>
        </p:nvSpPr>
        <p:spPr>
          <a:xfrm>
            <a:off x="5248656" y="2221992"/>
            <a:ext cx="6236208" cy="3941064"/>
          </a:xfrm>
        </p:spPr>
        <p:txBody>
          <a:bodyPr>
            <a:normAutofit/>
          </a:bodyPr>
          <a:lstStyle/>
          <a:p>
            <a:r>
              <a:rPr lang="en-US" dirty="0"/>
              <a:t>The dataset used in this analysis contains network connection records that describe different aspects of network traffic. Each record represents a single connection and includes features such as protocol type, service accessed, connection duration, traffic volume, and several security indicators. These features help analysts detect patterns that may indicate malicious activity.</a:t>
            </a:r>
            <a:endParaRPr lang="el-GR" dirty="0"/>
          </a:p>
        </p:txBody>
      </p:sp>
    </p:spTree>
    <p:extLst>
      <p:ext uri="{BB962C8B-B14F-4D97-AF65-F5344CB8AC3E}">
        <p14:creationId xmlns:p14="http://schemas.microsoft.com/office/powerpoint/2010/main" val="395260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C3F7A1-456D-E404-BF75-B2D3FBD218AF}"/>
              </a:ext>
            </a:extLst>
          </p:cNvPr>
          <p:cNvSpPr>
            <a:spLocks noGrp="1"/>
          </p:cNvSpPr>
          <p:nvPr>
            <p:ph type="title"/>
          </p:nvPr>
        </p:nvSpPr>
        <p:spPr>
          <a:xfrm>
            <a:off x="6284749" y="909638"/>
            <a:ext cx="5201121" cy="1318062"/>
          </a:xfrm>
        </p:spPr>
        <p:txBody>
          <a:bodyPr vert="horz" lIns="91440" tIns="45720" rIns="91440" bIns="45720" rtlCol="0" anchor="t">
            <a:normAutofit/>
          </a:bodyPr>
          <a:lstStyle/>
          <a:p>
            <a:r>
              <a:rPr lang="en-US" dirty="0"/>
              <a:t>Traffic Distribution</a:t>
            </a:r>
            <a:endParaRPr lang="en-US"/>
          </a:p>
        </p:txBody>
      </p:sp>
      <p:pic>
        <p:nvPicPr>
          <p:cNvPr id="5" name="Content Placeholder 4">
            <a:extLst>
              <a:ext uri="{FF2B5EF4-FFF2-40B4-BE49-F238E27FC236}">
                <a16:creationId xmlns:a16="http://schemas.microsoft.com/office/drawing/2014/main" id="{6A4FB585-AA4D-709C-CC5F-C95D53B0C87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6486" b="-2"/>
          <a:stretch>
            <a:fillRect/>
          </a:stretch>
        </p:blipFill>
        <p:spPr>
          <a:xfrm>
            <a:off x="709872" y="731519"/>
            <a:ext cx="4976888" cy="5437244"/>
          </a:xfrm>
          <a:prstGeom prst="rect">
            <a:avLst/>
          </a:prstGeom>
        </p:spPr>
      </p:pic>
      <p:cxnSp>
        <p:nvCxnSpPr>
          <p:cNvPr id="13" name="Straight Connector 12">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94CA612-FC29-01D6-E373-739FE0C82D99}"/>
              </a:ext>
            </a:extLst>
          </p:cNvPr>
          <p:cNvSpPr txBox="1"/>
          <p:nvPr/>
        </p:nvSpPr>
        <p:spPr>
          <a:xfrm>
            <a:off x="6290838" y="2236843"/>
            <a:ext cx="5201121" cy="3931920"/>
          </a:xfrm>
          <a:prstGeom prst="rect">
            <a:avLst/>
          </a:prstGeom>
        </p:spPr>
        <p:txBody>
          <a:bodyPr vert="horz" lIns="91440" tIns="45720" rIns="91440" bIns="45720" rtlCol="0">
            <a:normAutofit/>
          </a:bodyPr>
          <a:lstStyle/>
          <a:p>
            <a:pPr>
              <a:lnSpc>
                <a:spcPct val="110000"/>
              </a:lnSpc>
              <a:spcAft>
                <a:spcPts val="600"/>
              </a:spcAft>
            </a:pPr>
            <a:r>
              <a:rPr lang="en-US" dirty="0"/>
              <a:t>  The dataset contains both normal and anomalous traffic. The presence of anomalous connections suggests that the dataset includes various types of potential attacks. Understanding the proportion of attack traffic helps analysts evaluate the level of threat within the network environment. In real-world networks, a large portion of traffic is legitimate, but even a small percentage of malicious activity can cause significant security risks.</a:t>
            </a:r>
          </a:p>
        </p:txBody>
      </p:sp>
    </p:spTree>
    <p:extLst>
      <p:ext uri="{BB962C8B-B14F-4D97-AF65-F5344CB8AC3E}">
        <p14:creationId xmlns:p14="http://schemas.microsoft.com/office/powerpoint/2010/main" val="999713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04BD8-E27D-4F64-5599-FC0FFD23CA3D}"/>
              </a:ext>
            </a:extLst>
          </p:cNvPr>
          <p:cNvSpPr>
            <a:spLocks noGrp="1"/>
          </p:cNvSpPr>
          <p:nvPr>
            <p:ph type="title"/>
          </p:nvPr>
        </p:nvSpPr>
        <p:spPr>
          <a:xfrm>
            <a:off x="6696186" y="909637"/>
            <a:ext cx="4800600" cy="1307592"/>
          </a:xfrm>
        </p:spPr>
        <p:txBody>
          <a:bodyPr vert="horz" lIns="91440" tIns="45720" rIns="91440" bIns="45720" rtlCol="0" anchor="t">
            <a:normAutofit/>
          </a:bodyPr>
          <a:lstStyle/>
          <a:p>
            <a:r>
              <a:rPr lang="en-US" dirty="0"/>
              <a:t>Protocol Analysis</a:t>
            </a:r>
            <a:endParaRPr lang="en-US"/>
          </a:p>
        </p:txBody>
      </p:sp>
      <p:pic>
        <p:nvPicPr>
          <p:cNvPr id="5" name="Content Placeholder 4">
            <a:extLst>
              <a:ext uri="{FF2B5EF4-FFF2-40B4-BE49-F238E27FC236}">
                <a16:creationId xmlns:a16="http://schemas.microsoft.com/office/drawing/2014/main" id="{92BF11AF-D831-6BD5-CE56-0A5FB1AC382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9795" r="1" b="1"/>
          <a:stretch>
            <a:fillRect/>
          </a:stretch>
        </p:blipFill>
        <p:spPr>
          <a:xfrm>
            <a:off x="20" y="10"/>
            <a:ext cx="6044164" cy="6857990"/>
          </a:xfrm>
          <a:prstGeom prst="rect">
            <a:avLst/>
          </a:prstGeom>
        </p:spPr>
      </p:pic>
      <p:cxnSp>
        <p:nvCxnSpPr>
          <p:cNvPr id="20" name="Straight Connector 19">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2327C2E-A07E-0736-579D-A1CADE1653B8}"/>
              </a:ext>
            </a:extLst>
          </p:cNvPr>
          <p:cNvSpPr txBox="1"/>
          <p:nvPr/>
        </p:nvSpPr>
        <p:spPr>
          <a:xfrm>
            <a:off x="6696186" y="2221992"/>
            <a:ext cx="4800600" cy="3739896"/>
          </a:xfrm>
          <a:prstGeom prst="rect">
            <a:avLst/>
          </a:prstGeom>
        </p:spPr>
        <p:txBody>
          <a:bodyPr vert="horz" lIns="91440" tIns="45720" rIns="91440" bIns="45720" rtlCol="0">
            <a:normAutofit/>
          </a:bodyPr>
          <a:lstStyle/>
          <a:p>
            <a:pPr>
              <a:lnSpc>
                <a:spcPct val="110000"/>
              </a:lnSpc>
              <a:spcAft>
                <a:spcPts val="600"/>
              </a:spcAft>
            </a:pPr>
            <a:r>
              <a:rPr lang="en-US" dirty="0"/>
              <a:t>  The analysis of network protocols shows that TCP is the most commonly used protocol. TCP is the primary protocol used by many internet services such as web browsing, email communication, and file transfers. Because TCP is widely used, attackers often exploit vulnerabilities within TCP-based services.</a:t>
            </a:r>
          </a:p>
        </p:txBody>
      </p:sp>
      <p:cxnSp>
        <p:nvCxnSpPr>
          <p:cNvPr id="22" name="Straight Connector 21">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25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907CF7-00D4-9689-9D49-3C31FA73D413}"/>
              </a:ext>
            </a:extLst>
          </p:cNvPr>
          <p:cNvSpPr>
            <a:spLocks noGrp="1"/>
          </p:cNvSpPr>
          <p:nvPr>
            <p:ph type="title"/>
          </p:nvPr>
        </p:nvSpPr>
        <p:spPr>
          <a:xfrm>
            <a:off x="704088" y="914400"/>
            <a:ext cx="5195889" cy="1316736"/>
          </a:xfrm>
        </p:spPr>
        <p:txBody>
          <a:bodyPr>
            <a:normAutofit/>
          </a:bodyPr>
          <a:lstStyle/>
          <a:p>
            <a:r>
              <a:rPr lang="en-US" dirty="0"/>
              <a:t>Service Distribution</a:t>
            </a:r>
            <a:endParaRPr lang="el-GR" dirty="0"/>
          </a:p>
        </p:txBody>
      </p:sp>
      <p:cxnSp>
        <p:nvCxnSpPr>
          <p:cNvPr id="12" name="Straight Connector 11">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42D7E-3570-4B24-8AA8-6126CD06E4FD}"/>
              </a:ext>
            </a:extLst>
          </p:cNvPr>
          <p:cNvSpPr>
            <a:spLocks noGrp="1"/>
          </p:cNvSpPr>
          <p:nvPr>
            <p:ph idx="1"/>
          </p:nvPr>
        </p:nvSpPr>
        <p:spPr>
          <a:xfrm>
            <a:off x="704088" y="2231136"/>
            <a:ext cx="5195889" cy="3931920"/>
          </a:xfrm>
        </p:spPr>
        <p:txBody>
          <a:bodyPr>
            <a:normAutofit/>
          </a:bodyPr>
          <a:lstStyle/>
          <a:p>
            <a:pPr marL="0" indent="0">
              <a:buNone/>
            </a:pPr>
            <a:r>
              <a:rPr lang="en-US" dirty="0"/>
              <a:t>  The most frequently used services include HTTP and private network services. HTTP traffic dominates modern networks because it supports web communication between clients and servers. Attackers often target common services like web servers because they are widely accessible.</a:t>
            </a:r>
            <a:endParaRPr lang="el-GR" dirty="0"/>
          </a:p>
        </p:txBody>
      </p:sp>
      <p:pic>
        <p:nvPicPr>
          <p:cNvPr id="5" name="Picture 4">
            <a:extLst>
              <a:ext uri="{FF2B5EF4-FFF2-40B4-BE49-F238E27FC236}">
                <a16:creationId xmlns:a16="http://schemas.microsoft.com/office/drawing/2014/main" id="{4E2EF6CA-AF24-C7F9-F1C5-A2828A7FDCAC}"/>
              </a:ext>
            </a:extLst>
          </p:cNvPr>
          <p:cNvPicPr>
            <a:picLocks noChangeAspect="1"/>
          </p:cNvPicPr>
          <p:nvPr/>
        </p:nvPicPr>
        <p:blipFill>
          <a:blip r:embed="rId2">
            <a:extLst>
              <a:ext uri="{28A0092B-C50C-407E-A947-70E740481C1C}">
                <a14:useLocalDpi xmlns:a14="http://schemas.microsoft.com/office/drawing/2010/main" val="0"/>
              </a:ext>
            </a:extLst>
          </a:blip>
          <a:srcRect r="8029"/>
          <a:stretch>
            <a:fillRect/>
          </a:stretch>
        </p:blipFill>
        <p:spPr>
          <a:xfrm>
            <a:off x="6292025" y="0"/>
            <a:ext cx="5771248" cy="6857999"/>
          </a:xfrm>
          <a:prstGeom prst="rect">
            <a:avLst/>
          </a:prstGeom>
        </p:spPr>
      </p:pic>
    </p:spTree>
    <p:extLst>
      <p:ext uri="{BB962C8B-B14F-4D97-AF65-F5344CB8AC3E}">
        <p14:creationId xmlns:p14="http://schemas.microsoft.com/office/powerpoint/2010/main" val="1228378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A13495-E052-0D16-7CBC-F3A10AD58F9F}"/>
              </a:ext>
            </a:extLst>
          </p:cNvPr>
          <p:cNvSpPr>
            <a:spLocks noGrp="1"/>
          </p:cNvSpPr>
          <p:nvPr>
            <p:ph type="title"/>
          </p:nvPr>
        </p:nvSpPr>
        <p:spPr>
          <a:xfrm>
            <a:off x="704088" y="914400"/>
            <a:ext cx="10780776" cy="1180210"/>
          </a:xfrm>
        </p:spPr>
        <p:txBody>
          <a:bodyPr>
            <a:normAutofit/>
          </a:bodyPr>
          <a:lstStyle/>
          <a:p>
            <a:r>
              <a:rPr lang="en-US"/>
              <a:t>Connection Duration</a:t>
            </a:r>
            <a:endParaRPr lang="el-GR" dirty="0"/>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4782CB9-AE31-6F45-80D9-4C4B848019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387" y="1871003"/>
            <a:ext cx="6109680" cy="4292051"/>
          </a:xfrm>
          <a:prstGeom prst="rect">
            <a:avLst/>
          </a:prstGeom>
        </p:spPr>
      </p:pic>
      <p:sp>
        <p:nvSpPr>
          <p:cNvPr id="3" name="Content Placeholder 2">
            <a:extLst>
              <a:ext uri="{FF2B5EF4-FFF2-40B4-BE49-F238E27FC236}">
                <a16:creationId xmlns:a16="http://schemas.microsoft.com/office/drawing/2014/main" id="{4D2FD043-610E-A99A-7889-0C2740D03A94}"/>
              </a:ext>
            </a:extLst>
          </p:cNvPr>
          <p:cNvSpPr>
            <a:spLocks noGrp="1"/>
          </p:cNvSpPr>
          <p:nvPr>
            <p:ph idx="1"/>
          </p:nvPr>
        </p:nvSpPr>
        <p:spPr>
          <a:xfrm>
            <a:off x="6664960" y="2346960"/>
            <a:ext cx="4819903" cy="3775456"/>
          </a:xfrm>
        </p:spPr>
        <p:txBody>
          <a:bodyPr>
            <a:normAutofit/>
          </a:bodyPr>
          <a:lstStyle/>
          <a:p>
            <a:pPr marL="0" indent="0">
              <a:buNone/>
            </a:pPr>
            <a:r>
              <a:rPr lang="en-US" dirty="0"/>
              <a:t>  Most network connections have short durations. Typical internet activities such as loading a webpage or sending a request are completed very quickly. Extremely long or extremely short connections may sometimes indicate suspicious behavior.</a:t>
            </a:r>
            <a:endParaRPr lang="el-GR" dirty="0"/>
          </a:p>
        </p:txBody>
      </p:sp>
    </p:spTree>
    <p:extLst>
      <p:ext uri="{BB962C8B-B14F-4D97-AF65-F5344CB8AC3E}">
        <p14:creationId xmlns:p14="http://schemas.microsoft.com/office/powerpoint/2010/main" val="2414349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6F64A1-5088-F275-D722-C8874A232E80}"/>
              </a:ext>
            </a:extLst>
          </p:cNvPr>
          <p:cNvSpPr>
            <a:spLocks noGrp="1"/>
          </p:cNvSpPr>
          <p:nvPr>
            <p:ph type="title"/>
          </p:nvPr>
        </p:nvSpPr>
        <p:spPr>
          <a:xfrm>
            <a:off x="704088" y="4023657"/>
            <a:ext cx="3794760" cy="2110444"/>
          </a:xfrm>
        </p:spPr>
        <p:txBody>
          <a:bodyPr>
            <a:normAutofit/>
          </a:bodyPr>
          <a:lstStyle/>
          <a:p>
            <a:r>
              <a:rPr lang="en-US"/>
              <a:t>Traffic Volume Analysis</a:t>
            </a:r>
            <a:endParaRPr lang="el-GR"/>
          </a:p>
        </p:txBody>
      </p:sp>
      <p:cxnSp>
        <p:nvCxnSpPr>
          <p:cNvPr id="21" name="Straight Connector 20">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4114590"/>
            <a:ext cx="9818" cy="20195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A6F52B2-CCEC-595C-B0F0-7EC7F2F990E7}"/>
              </a:ext>
            </a:extLst>
          </p:cNvPr>
          <p:cNvSpPr>
            <a:spLocks noGrp="1"/>
          </p:cNvSpPr>
          <p:nvPr>
            <p:ph idx="1"/>
          </p:nvPr>
        </p:nvSpPr>
        <p:spPr>
          <a:xfrm>
            <a:off x="5350933" y="4088705"/>
            <a:ext cx="6135924" cy="2093976"/>
          </a:xfrm>
        </p:spPr>
        <p:txBody>
          <a:bodyPr>
            <a:normAutofit fontScale="92500"/>
          </a:bodyPr>
          <a:lstStyle/>
          <a:p>
            <a:pPr marL="0" indent="0">
              <a:lnSpc>
                <a:spcPct val="100000"/>
              </a:lnSpc>
              <a:buNone/>
            </a:pPr>
            <a:r>
              <a:rPr lang="en-US" sz="1700" dirty="0"/>
              <a:t> This visualization examines the relationship between connection duration and the amount of transmitted data.</a:t>
            </a:r>
            <a:r>
              <a:rPr lang="el-GR" sz="1700" dirty="0"/>
              <a:t> </a:t>
            </a:r>
            <a:r>
              <a:rPr lang="en-US" sz="1700" dirty="0"/>
              <a:t>Some connections transfer significantly more data than others, which may indicate file transfers or large network operations.</a:t>
            </a:r>
            <a:r>
              <a:rPr lang="el-GR" sz="1700" dirty="0"/>
              <a:t> </a:t>
            </a:r>
            <a:r>
              <a:rPr lang="en-US" sz="1700" dirty="0"/>
              <a:t>Unusual traffic patterns, such as extremely high data transfers, may signal malicious activity like data exfiltration. </a:t>
            </a:r>
            <a:r>
              <a:rPr lang="en-US" sz="1800" dirty="0"/>
              <a:t>In some cases, extremely high traffic volumes may indicate data exfiltration, where attackers attempt to transfer large amounts of sensitive information outside the network.</a:t>
            </a:r>
            <a:endParaRPr lang="el-GR" sz="1700" dirty="0"/>
          </a:p>
        </p:txBody>
      </p:sp>
      <p:pic>
        <p:nvPicPr>
          <p:cNvPr id="7" name="Picture 6">
            <a:extLst>
              <a:ext uri="{FF2B5EF4-FFF2-40B4-BE49-F238E27FC236}">
                <a16:creationId xmlns:a16="http://schemas.microsoft.com/office/drawing/2014/main" id="{6D16FAAF-0F53-C95E-E1D1-8900DE795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038" y="0"/>
            <a:ext cx="11037000" cy="4023657"/>
          </a:xfrm>
          <a:prstGeom prst="rect">
            <a:avLst/>
          </a:prstGeom>
        </p:spPr>
      </p:pic>
    </p:spTree>
    <p:extLst>
      <p:ext uri="{BB962C8B-B14F-4D97-AF65-F5344CB8AC3E}">
        <p14:creationId xmlns:p14="http://schemas.microsoft.com/office/powerpoint/2010/main" val="8378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96D7A1-E753-F5C6-417F-F2800769C00F}"/>
              </a:ext>
            </a:extLst>
          </p:cNvPr>
          <p:cNvSpPr>
            <a:spLocks noGrp="1"/>
          </p:cNvSpPr>
          <p:nvPr>
            <p:ph type="title"/>
          </p:nvPr>
        </p:nvSpPr>
        <p:spPr>
          <a:xfrm>
            <a:off x="700088" y="909637"/>
            <a:ext cx="5958216" cy="1316736"/>
          </a:xfrm>
        </p:spPr>
        <p:txBody>
          <a:bodyPr>
            <a:normAutofit/>
          </a:bodyPr>
          <a:lstStyle/>
          <a:p>
            <a:r>
              <a:rPr lang="en-US"/>
              <a:t>Privileged Access Indicators</a:t>
            </a:r>
            <a:endParaRPr lang="el-GR"/>
          </a:p>
        </p:txBody>
      </p:sp>
      <p:cxnSp>
        <p:nvCxnSpPr>
          <p:cNvPr id="26" name="Straight Connector 25">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79C7EE2-A65A-628A-BB27-E8BF342BED22}"/>
              </a:ext>
            </a:extLst>
          </p:cNvPr>
          <p:cNvSpPr>
            <a:spLocks noGrp="1"/>
          </p:cNvSpPr>
          <p:nvPr>
            <p:ph idx="1"/>
          </p:nvPr>
        </p:nvSpPr>
        <p:spPr>
          <a:xfrm>
            <a:off x="700088" y="2235251"/>
            <a:ext cx="5958216" cy="3713109"/>
          </a:xfrm>
        </p:spPr>
        <p:txBody>
          <a:bodyPr>
            <a:normAutofit/>
          </a:bodyPr>
          <a:lstStyle/>
          <a:p>
            <a:pPr marL="0" indent="0">
              <a:buNone/>
            </a:pPr>
            <a:r>
              <a:rPr lang="en-US" dirty="0"/>
              <a:t> Shell access and root operations appear very rarely in the dataset.</a:t>
            </a:r>
            <a:r>
              <a:rPr lang="el-GR" dirty="0"/>
              <a:t> </a:t>
            </a:r>
            <a:r>
              <a:rPr lang="en-US" dirty="0"/>
              <a:t>Root access allows complete control over a system.</a:t>
            </a:r>
            <a:r>
              <a:rPr lang="el-GR" dirty="0"/>
              <a:t> </a:t>
            </a:r>
            <a:r>
              <a:rPr lang="en-US" dirty="0"/>
              <a:t>Unauthorized root access attempts may indicate severe security breaches. Privileged access attempts are important indicators in intrusion detection because attackers often attempt to escalate privileges after gaining initial access to a system.</a:t>
            </a:r>
            <a:endParaRPr lang="el-GR" dirty="0"/>
          </a:p>
        </p:txBody>
      </p:sp>
      <p:pic>
        <p:nvPicPr>
          <p:cNvPr id="13" name="Picture 12">
            <a:extLst>
              <a:ext uri="{FF2B5EF4-FFF2-40B4-BE49-F238E27FC236}">
                <a16:creationId xmlns:a16="http://schemas.microsoft.com/office/drawing/2014/main" id="{CB55F03E-2778-F2A8-0C94-FE01F0D5E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8392" y="719454"/>
            <a:ext cx="2906860" cy="2906860"/>
          </a:xfrm>
          <a:prstGeom prst="rect">
            <a:avLst/>
          </a:prstGeom>
        </p:spPr>
      </p:pic>
      <p:cxnSp>
        <p:nvCxnSpPr>
          <p:cNvPr id="28" name="Straight Connector 27">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89A484F-E147-2E49-C15F-6BC1D57E0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835212"/>
            <a:ext cx="4076700" cy="2303334"/>
          </a:xfrm>
          <a:prstGeom prst="rect">
            <a:avLst/>
          </a:prstGeom>
        </p:spPr>
      </p:pic>
    </p:spTree>
    <p:extLst>
      <p:ext uri="{BB962C8B-B14F-4D97-AF65-F5344CB8AC3E}">
        <p14:creationId xmlns:p14="http://schemas.microsoft.com/office/powerpoint/2010/main" val="2825209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2E229A-68ED-C336-7E4B-9108A56FA39E}"/>
              </a:ext>
            </a:extLst>
          </p:cNvPr>
          <p:cNvSpPr>
            <a:spLocks noGrp="1"/>
          </p:cNvSpPr>
          <p:nvPr>
            <p:ph type="title"/>
          </p:nvPr>
        </p:nvSpPr>
        <p:spPr>
          <a:xfrm>
            <a:off x="6284749" y="909638"/>
            <a:ext cx="5201121" cy="1318062"/>
          </a:xfrm>
        </p:spPr>
        <p:txBody>
          <a:bodyPr>
            <a:normAutofit/>
          </a:bodyPr>
          <a:lstStyle/>
          <a:p>
            <a:r>
              <a:rPr lang="en-US"/>
              <a:t>Connection Status Analysis</a:t>
            </a:r>
            <a:endParaRPr lang="el-GR"/>
          </a:p>
        </p:txBody>
      </p:sp>
      <p:pic>
        <p:nvPicPr>
          <p:cNvPr id="5" name="Picture 4">
            <a:extLst>
              <a:ext uri="{FF2B5EF4-FFF2-40B4-BE49-F238E27FC236}">
                <a16:creationId xmlns:a16="http://schemas.microsoft.com/office/drawing/2014/main" id="{5A917291-C8BE-AB41-686A-62BCC4ED65AD}"/>
              </a:ext>
            </a:extLst>
          </p:cNvPr>
          <p:cNvPicPr>
            <a:picLocks noChangeAspect="1"/>
          </p:cNvPicPr>
          <p:nvPr/>
        </p:nvPicPr>
        <p:blipFill>
          <a:blip r:embed="rId2">
            <a:extLst>
              <a:ext uri="{28A0092B-C50C-407E-A947-70E740481C1C}">
                <a14:useLocalDpi xmlns:a14="http://schemas.microsoft.com/office/drawing/2010/main" val="0"/>
              </a:ext>
            </a:extLst>
          </a:blip>
          <a:srcRect r="13624"/>
          <a:stretch>
            <a:fillRect/>
          </a:stretch>
        </p:blipFill>
        <p:spPr>
          <a:xfrm>
            <a:off x="20" y="10"/>
            <a:ext cx="5686740" cy="6857990"/>
          </a:xfrm>
          <a:prstGeom prst="rect">
            <a:avLst/>
          </a:prstGeom>
        </p:spPr>
      </p:pic>
      <p:cxnSp>
        <p:nvCxnSpPr>
          <p:cNvPr id="35" name="Straight Connector 3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EE9B5A1-09A1-E50B-0CAA-747A68EAA94A}"/>
              </a:ext>
            </a:extLst>
          </p:cNvPr>
          <p:cNvSpPr>
            <a:spLocks noGrp="1"/>
          </p:cNvSpPr>
          <p:nvPr>
            <p:ph idx="1"/>
          </p:nvPr>
        </p:nvSpPr>
        <p:spPr>
          <a:xfrm>
            <a:off x="6290838" y="2236843"/>
            <a:ext cx="5201121" cy="3931920"/>
          </a:xfrm>
        </p:spPr>
        <p:txBody>
          <a:bodyPr>
            <a:normAutofit/>
          </a:bodyPr>
          <a:lstStyle/>
          <a:p>
            <a:pPr marL="0" indent="0">
              <a:buNone/>
            </a:pPr>
            <a:r>
              <a:rPr lang="en-US" dirty="0"/>
              <a:t>  Most connections are successfully completed.</a:t>
            </a:r>
            <a:r>
              <a:rPr lang="el-GR" dirty="0"/>
              <a:t> </a:t>
            </a:r>
            <a:r>
              <a:rPr lang="en-US" dirty="0"/>
              <a:t>Legitimate network communication typically results in successful connection establishment.</a:t>
            </a:r>
            <a:r>
              <a:rPr lang="el-GR" dirty="0"/>
              <a:t> </a:t>
            </a:r>
            <a:r>
              <a:rPr lang="en-US" dirty="0"/>
              <a:t>Rejected or incomplete connections may indicate scanning or intrusion attempts.</a:t>
            </a:r>
            <a:endParaRPr lang="el-GR" dirty="0"/>
          </a:p>
        </p:txBody>
      </p:sp>
    </p:spTree>
    <p:extLst>
      <p:ext uri="{BB962C8B-B14F-4D97-AF65-F5344CB8AC3E}">
        <p14:creationId xmlns:p14="http://schemas.microsoft.com/office/powerpoint/2010/main" val="2925892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D0EC6C-CB49-65C0-8AAF-0B0AFAFB80CE}"/>
              </a:ext>
            </a:extLst>
          </p:cNvPr>
          <p:cNvSpPr>
            <a:spLocks noGrp="1"/>
          </p:cNvSpPr>
          <p:nvPr>
            <p:ph type="ctrTitle"/>
          </p:nvPr>
        </p:nvSpPr>
        <p:spPr>
          <a:xfrm>
            <a:off x="5633343" y="1137215"/>
            <a:ext cx="5804426" cy="3376766"/>
          </a:xfrm>
        </p:spPr>
        <p:txBody>
          <a:bodyPr anchor="t">
            <a:normAutofit/>
          </a:bodyPr>
          <a:lstStyle/>
          <a:p>
            <a:r>
              <a:rPr lang="en-US" sz="6600"/>
              <a:t>Final Conclusion</a:t>
            </a:r>
            <a:endParaRPr lang="el-GR" sz="6600"/>
          </a:p>
        </p:txBody>
      </p:sp>
      <p:sp>
        <p:nvSpPr>
          <p:cNvPr id="3" name="Subtitle 2">
            <a:extLst>
              <a:ext uri="{FF2B5EF4-FFF2-40B4-BE49-F238E27FC236}">
                <a16:creationId xmlns:a16="http://schemas.microsoft.com/office/drawing/2014/main" id="{AA129D38-953A-39AE-F569-715EF354941B}"/>
              </a:ext>
            </a:extLst>
          </p:cNvPr>
          <p:cNvSpPr>
            <a:spLocks noGrp="1"/>
          </p:cNvSpPr>
          <p:nvPr>
            <p:ph type="subTitle" idx="1"/>
          </p:nvPr>
        </p:nvSpPr>
        <p:spPr>
          <a:xfrm>
            <a:off x="5330783" y="3676652"/>
            <a:ext cx="6017560" cy="2266942"/>
          </a:xfrm>
        </p:spPr>
        <p:txBody>
          <a:bodyPr anchor="b">
            <a:normAutofit/>
          </a:bodyPr>
          <a:lstStyle/>
          <a:p>
            <a:pPr>
              <a:lnSpc>
                <a:spcPct val="100000"/>
              </a:lnSpc>
            </a:pPr>
            <a:r>
              <a:rPr lang="en-US" sz="1400" dirty="0"/>
              <a:t>The analysis of the network traffic dataset reveals several important patterns. Most connections represent normal network activity, while anomalous traffic displays distinct characteristics such as unusual connection behavior, abnormal traffic volumes, or suspicious login attempts. These patterns highlight the importance of monitoring network activity and using data-driven approaches to detect potential cyber threats.</a:t>
            </a:r>
            <a:r>
              <a:rPr lang="el-GR" sz="1400" dirty="0"/>
              <a:t> </a:t>
            </a:r>
            <a:r>
              <a:rPr lang="en-US" sz="1400" dirty="0"/>
              <a:t>Data visualization plays a critical role in understanding complex network behaviors and improving intrusion detection systems. These insights demonstrate how data visualization can support cybersecurity analysts in identifying suspicious behavior and improving network defense strategies.</a:t>
            </a:r>
            <a:endParaRPr lang="el-GR" sz="1400" dirty="0"/>
          </a:p>
        </p:txBody>
      </p:sp>
      <p:pic>
        <p:nvPicPr>
          <p:cNvPr id="7" name="Graphic 6" descr="Checkmark">
            <a:extLst>
              <a:ext uri="{FF2B5EF4-FFF2-40B4-BE49-F238E27FC236}">
                <a16:creationId xmlns:a16="http://schemas.microsoft.com/office/drawing/2014/main" id="{11F4D974-2A8D-6CEF-FCCC-1D8FD9B51E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383" y="1171349"/>
            <a:ext cx="4515301" cy="4515301"/>
          </a:xfrm>
          <a:prstGeom prst="rect">
            <a:avLst/>
          </a:prstGeom>
        </p:spPr>
      </p:pic>
      <p:cxnSp>
        <p:nvCxnSpPr>
          <p:cNvPr id="12" name="Straight Connector 1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3343" y="723900"/>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8E634B8-311A-4810-A5DB-7043D02804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3343" y="6134100"/>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47363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F208E7AF6B934E9B24ED115FD09FA5" ma:contentTypeVersion="5" ma:contentTypeDescription="Create a new document." ma:contentTypeScope="" ma:versionID="07d2e89249cfb002ae34468fac4868db">
  <xsd:schema xmlns:xsd="http://www.w3.org/2001/XMLSchema" xmlns:xs="http://www.w3.org/2001/XMLSchema" xmlns:p="http://schemas.microsoft.com/office/2006/metadata/properties" xmlns:ns3="c59f56a3-d3ef-4a90-abaf-c48ada4e1b0d" targetNamespace="http://schemas.microsoft.com/office/2006/metadata/properties" ma:root="true" ma:fieldsID="c2e47d8847d33a2fc871831f77399a99" ns3:_="">
    <xsd:import namespace="c59f56a3-d3ef-4a90-abaf-c48ada4e1b0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9f56a3-d3ef-4a90-abaf-c48ada4e1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5CF2A35-929E-48DB-934C-84E222E3A8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9f56a3-d3ef-4a90-abaf-c48ada4e1b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84347FE-6639-461D-A8D6-3044211552AD}">
  <ds:schemaRefs>
    <ds:schemaRef ds:uri="http://schemas.microsoft.com/sharepoint/v3/contenttype/forms"/>
  </ds:schemaRefs>
</ds:datastoreItem>
</file>

<file path=customXml/itemProps3.xml><?xml version="1.0" encoding="utf-8"?>
<ds:datastoreItem xmlns:ds="http://schemas.openxmlformats.org/officeDocument/2006/customXml" ds:itemID="{816F1A52-E057-4AB1-9E84-B88E5BC40269}">
  <ds:schemaRefs>
    <ds:schemaRef ds:uri="c59f56a3-d3ef-4a90-abaf-c48ada4e1b0d"/>
    <ds:schemaRef ds:uri="http://schemas.microsoft.com/office/2006/documentManagement/types"/>
    <ds:schemaRef ds:uri="http://purl.org/dc/terms/"/>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65</TotalTime>
  <Words>698</Words>
  <Application>Microsoft Office PowerPoint</Application>
  <PresentationFormat>Widescreen</PresentationFormat>
  <Paragraphs>25</Paragraphs>
  <Slides>12</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Calisto MT</vt:lpstr>
      <vt:lpstr>Univers Condensed</vt:lpstr>
      <vt:lpstr>ChronicleVTI</vt:lpstr>
      <vt:lpstr>Network Intrusion Detection Analysis</vt:lpstr>
      <vt:lpstr>Network Intrusion Detection</vt:lpstr>
      <vt:lpstr>Objectives of the Analysis</vt:lpstr>
      <vt:lpstr>Dataset Description</vt:lpstr>
      <vt:lpstr>Traffic Distribution</vt:lpstr>
      <vt:lpstr>Protocol Analysis</vt:lpstr>
      <vt:lpstr>Service Distribution</vt:lpstr>
      <vt:lpstr>Connection Duration</vt:lpstr>
      <vt:lpstr>Traffic Volume Analysis</vt:lpstr>
      <vt:lpstr>Privileged Access Indicators</vt:lpstr>
      <vt:lpstr>Connection Status Analysis</vt:lpstr>
      <vt:lpstr>Final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IOANNIS ZEZAS</dc:creator>
  <cp:lastModifiedBy>IOANNIS ZEZAS</cp:lastModifiedBy>
  <cp:revision>2</cp:revision>
  <dcterms:created xsi:type="dcterms:W3CDTF">2026-03-10T00:57:52Z</dcterms:created>
  <dcterms:modified xsi:type="dcterms:W3CDTF">2026-03-10T02:03:29Z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0x010100D2F208E7AF6B934E9B24ED115FD09FA5</vt:lpwstr>
  </property>
</Properties>
</file>